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4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>
        <p:scale>
          <a:sx n="100" d="100"/>
          <a:sy n="100" d="100"/>
        </p:scale>
        <p:origin x="14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BC774-99C4-468D-E103-7E326615F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68CE97-51AE-84A6-2428-8B7A3EA5A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539C90-AAE9-06A0-1104-DC41D4318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1600AF-812F-7F8D-90ED-3ED7784A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077807-AAE9-A40D-FEEC-0A49E8F1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39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CFF75-D459-FB83-C834-80C6074D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58538E-3272-18BE-115B-7DCCFA021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2EFA6F-7ED4-7333-07C9-CFB1799F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4452A9-1001-11AD-A8B5-09C31E43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A0D497-59B9-2232-689A-6D43AED1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3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C3A45-0553-36BD-6D82-D5B6FC45A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6F7716-7D6F-D312-4A60-1724C504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646DDE-8819-73D6-8DEE-5A9AB6BDD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1E5D40-CA45-7F89-1F5A-53C130FC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0AF3E3-7EAC-7F4B-4B43-AFCCC228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65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09F92-C337-3199-3910-2BA14AEA2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DBB90C-0805-1E52-81C4-7910A388A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A9BC4D-CF24-5588-185A-DAA62176D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789EC7-BC2F-A700-BBCC-0A3EC2CE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4A58F3-9774-A985-69DE-BA06E099B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082409-D7E0-BE9D-C571-6EC1C7AA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424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30562-319E-9CCB-A2B1-831874706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D936F5-E304-1133-DCB6-30AABAA89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85BB92-5381-AF24-9E79-56F4EFEDD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B5B48C-D316-8670-0401-3C5814D44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9C8381-58F3-CECE-1967-0874D5645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78B9453-677F-DB51-8AA6-C0FD7B42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E77F4D-1327-7015-3463-ED9004B8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29DD91-81CF-5B40-6DE4-A03BEE7A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95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2B1A-57E2-009F-2B3E-5E0CED56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77359A-FAB1-79CA-B7C3-954764E2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5BA5010-2D85-7A9C-D8A8-7DF76AB0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CCA24E0-0E31-DB3C-173C-C9A012CE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394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1A6D4F-B4B4-5600-B454-E1F66D47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A66411-3140-71EE-F40D-82DC09B4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7E46F1-677A-04DA-1EBD-EE803F5B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4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859A3-0322-59D7-3EBE-63739EFF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F0FDFC-7220-B164-8E33-164E018F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740FBF-0FA0-CDF5-D006-71B7B742A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BADE4B-E438-DAA9-B6B1-7D68B0B4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55FAFE-0415-8417-B3C7-3271FEB7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5E1029-6F8D-96CE-CB03-4D1A6986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90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251E3-DB60-952B-8AAC-A7130172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4D65385-B80A-5019-5B35-C8464BA46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BA00C1-5B1E-E222-1E82-B9BFC1159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0E66AD-708A-3743-7E42-497F1B5E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F901D2-1A7F-82DF-BB0C-2178EF5E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C0E4BC-748F-2C66-8F94-E70956C1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87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6226C-C607-6AC2-1C2B-9D98727C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1C8F8A-639F-B451-84B1-B3B82C0A9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53239D-22EE-9BD5-3CFA-90D34BB5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8CF9F6-0891-9D1B-9166-A18E2A23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C63F0F-9E5C-AD4F-4499-B403378A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0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C3B3D8-DE7C-9DB9-220E-53B9E9399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8E81BC-1540-8628-5D95-C50C44BA2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ABA62-7312-FE29-FF39-9131733E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BCF1F3-56C3-F3BB-403A-2B4EC180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3523E6-D729-9276-34B5-180E6796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96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1C7FD0-90DE-3EF9-9956-2109D640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123FB0-36B0-9CE5-EB8F-E2ADA8C80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B0A27B-F8F9-1A95-5D58-7B5D0E29B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186A8-B1BF-C54B-99AA-126749BA44E3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5377BD-69AF-C3CA-FFE0-9CB9B1DD9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31CF7A-D2C1-B766-BD84-80AE27986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83E13-79FE-A347-817E-BB38EB941B3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63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38E5AA-098D-0B88-722A-2544CBCF9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Trabalho de Aplicação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76F8BA-EE0C-DE7B-380A-76C3F69BE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dirty="0" err="1"/>
              <a:t>Elementos</a:t>
            </a:r>
            <a:r>
              <a:rPr lang="en-US" sz="2000" b="1" dirty="0"/>
              <a:t> de Pesquisa </a:t>
            </a:r>
            <a:r>
              <a:rPr lang="en-US" sz="2000" b="1" dirty="0" err="1"/>
              <a:t>Operacional</a:t>
            </a:r>
            <a:r>
              <a:rPr lang="en-US" sz="2000" b="1" dirty="0"/>
              <a:t> e de </a:t>
            </a:r>
            <a:r>
              <a:rPr lang="en-US" sz="2000" b="1" dirty="0" err="1"/>
              <a:t>Simulação</a:t>
            </a:r>
            <a:endParaRPr lang="en-US" sz="2000" b="1" dirty="0"/>
          </a:p>
          <a:p>
            <a:pPr algn="l"/>
            <a:r>
              <a:rPr lang="en-US" sz="2000" dirty="0" err="1"/>
              <a:t>Projeto</a:t>
            </a:r>
            <a:r>
              <a:rPr lang="en-US" sz="2000" dirty="0"/>
              <a:t> </a:t>
            </a:r>
            <a:r>
              <a:rPr lang="en-US" sz="2000" dirty="0" err="1"/>
              <a:t>Realco</a:t>
            </a:r>
            <a:r>
              <a:rPr lang="en-US" sz="2000" dirty="0"/>
              <a:t>: </a:t>
            </a:r>
            <a:r>
              <a:rPr lang="en-US" sz="2000" dirty="0" err="1"/>
              <a:t>Otimização</a:t>
            </a:r>
            <a:r>
              <a:rPr lang="en-US" sz="2000" dirty="0"/>
              <a:t> de </a:t>
            </a:r>
            <a:r>
              <a:rPr lang="en-US" sz="2000" dirty="0" err="1"/>
              <a:t>Empreendimento</a:t>
            </a:r>
            <a:r>
              <a:rPr lang="en-US" sz="2000" dirty="0"/>
              <a:t> </a:t>
            </a:r>
            <a:r>
              <a:rPr lang="en-US" sz="2000" dirty="0" err="1"/>
              <a:t>nas</a:t>
            </a:r>
            <a:r>
              <a:rPr lang="en-US" sz="2000" dirty="0"/>
              <a:t> Ozark Mountains.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Caio Acosta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Enzo </a:t>
            </a:r>
            <a:r>
              <a:rPr lang="en-US" sz="2000" dirty="0" err="1"/>
              <a:t>Quatrochi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João Gabriel</a:t>
            </a:r>
            <a:endParaRPr lang="en-US" sz="2000" b="1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Tiago Silva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Vinícius Mendes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0961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9B3E6F-660B-33B2-CD0A-6914D199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O Desafio da Realco e as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66F3C0-B15A-41A8-72BD-D7F91B994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b="1" dirty="0"/>
              <a:t>O Problema:</a:t>
            </a:r>
            <a:r>
              <a:rPr lang="pt-BR" sz="2000" dirty="0"/>
              <a:t> Terreno de 800 acres com histórico de contaminação por fossas. </a:t>
            </a:r>
          </a:p>
          <a:p>
            <a:pPr marL="0" indent="0">
              <a:buNone/>
            </a:pPr>
            <a:r>
              <a:rPr lang="pt-BR" sz="2000" b="1" dirty="0"/>
              <a:t>O Objetivo:</a:t>
            </a:r>
            <a:r>
              <a:rPr lang="pt-BR" sz="2000" dirty="0"/>
              <a:t> Maximizar o lucro respeitando novas e rigorosas leis ambientais. </a:t>
            </a:r>
          </a:p>
          <a:p>
            <a:pPr marL="0" indent="0">
              <a:buNone/>
            </a:pPr>
            <a:r>
              <a:rPr lang="pt-BR" sz="2000" b="1" dirty="0"/>
              <a:t>Variáveis de Decisão:</a:t>
            </a:r>
            <a:endParaRPr lang="pt-BR" sz="2000" dirty="0"/>
          </a:p>
          <a:p>
            <a:r>
              <a:rPr lang="pt-BR" sz="2000" dirty="0"/>
              <a:t>X1 = Unidades simples (lotes de 2 acres) </a:t>
            </a:r>
          </a:p>
          <a:p>
            <a:r>
              <a:rPr lang="pt-BR" sz="2000" dirty="0"/>
              <a:t>X2 = Unidades duplas (lotes de 3 acres) </a:t>
            </a:r>
          </a:p>
          <a:p>
            <a:r>
              <a:rPr lang="pt-BR" sz="2000" dirty="0"/>
              <a:t>X3 = Unidades triplas (lotes de 4 acres) </a:t>
            </a:r>
          </a:p>
          <a:p>
            <a:r>
              <a:rPr lang="pt-BR" sz="2000" dirty="0"/>
              <a:t>X4 = Áreas de recreação (1 acre) 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105718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EAFC8-8527-3E8A-A651-C0318BE8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3A6A0B-74A8-1895-7A38-4A7C00F1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A Função 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68DFEE-C7EE-EB6E-B9E1-D7520926C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pt-BR" sz="2000" b="1" dirty="0"/>
              <a:t>Objetivo:</a:t>
            </a:r>
            <a:r>
              <a:rPr lang="pt-BR" sz="2000" dirty="0"/>
              <a:t> Maximizar o Lucro Líquido</a:t>
            </a:r>
          </a:p>
          <a:p>
            <a:r>
              <a:rPr lang="pt-BR" sz="2000" b="1" dirty="0"/>
              <a:t>Cálculo do Retorno:</a:t>
            </a:r>
            <a:r>
              <a:rPr lang="pt-BR" sz="2000" dirty="0"/>
              <a:t> Retorno Bruto - Custo de Conexão de Água </a:t>
            </a:r>
          </a:p>
          <a:p>
            <a:r>
              <a:rPr lang="pt-BR" sz="2000" b="1" dirty="0"/>
              <a:t>Função:</a:t>
            </a:r>
            <a:r>
              <a:rPr lang="pt-BR" sz="2000" dirty="0"/>
              <a:t> </a:t>
            </a:r>
            <a:r>
              <a:rPr lang="pt-BR" sz="2000" b="1" dirty="0" err="1"/>
              <a:t>MaxZ</a:t>
            </a:r>
            <a:r>
              <a:rPr lang="pt-BR" sz="2000" b="1" dirty="0"/>
              <a:t> = 9000X1 + 10800X2 + 13600X3 – 800X4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F41B7EA-84BE-DE50-6DC2-7C9A8F4D8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583" y="4356016"/>
            <a:ext cx="5159188" cy="2055398"/>
          </a:xfrm>
          <a:prstGeom prst="rect">
            <a:avLst/>
          </a:prstGeom>
        </p:spPr>
      </p:pic>
      <p:sp>
        <p:nvSpPr>
          <p:cNvPr id="7" name="Seta para a Direita 6">
            <a:extLst>
              <a:ext uri="{FF2B5EF4-FFF2-40B4-BE49-F238E27FC236}">
                <a16:creationId xmlns:a16="http://schemas.microsoft.com/office/drawing/2014/main" id="{A9BBBB9C-B0A0-76C1-6FBC-CC84482142E7}"/>
              </a:ext>
            </a:extLst>
          </p:cNvPr>
          <p:cNvSpPr/>
          <p:nvPr/>
        </p:nvSpPr>
        <p:spPr>
          <a:xfrm>
            <a:off x="5041907" y="4825916"/>
            <a:ext cx="1270000" cy="2540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5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6F36C-20E3-3929-FCFB-31FC120F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D5C32F-4F58-CE98-03FC-1020D8913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D9417B-6D87-4244-6508-A39CFAA29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A5929C-84BB-6EC4-513B-F48C31A06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B862D8-1482-F1F6-C450-299383D5F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9C9039-4B8E-E408-0A5E-9149A1333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9A347A1-F68D-7C2A-B6C6-98D900956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4D0752-25B1-D115-90B0-487C625DF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56ED5F-E5D4-D2F6-CA4E-239883C7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dirty="0">
                <a:solidFill>
                  <a:srgbClr val="FFFFFF"/>
                </a:solidFill>
              </a:rPr>
              <a:t>Restrições Ambientais e Físicas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D3C44D-544A-45E7-50CE-FD6618918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7827" y="649480"/>
            <a:ext cx="732778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1. Espaço Útil: </a:t>
            </a:r>
            <a:r>
              <a:rPr lang="pt-BR" sz="2000" b="1" dirty="0"/>
              <a:t>2X1 + 3X2 + 4X3 + X4 &lt;= 680 </a:t>
            </a:r>
            <a:r>
              <a:rPr lang="pt-BR" sz="2000" dirty="0"/>
              <a:t>(Desconto de 15% para ruas) </a:t>
            </a:r>
          </a:p>
          <a:p>
            <a:pPr marL="0" indent="0">
              <a:buNone/>
            </a:pPr>
            <a:r>
              <a:rPr lang="pt-BR" sz="2000" dirty="0"/>
              <a:t>2. Cota de Unidades Simples: </a:t>
            </a:r>
            <a:r>
              <a:rPr lang="pt-BR" sz="2000" b="1" dirty="0"/>
              <a:t>X1 - X2 - X3 &gt;= 0 </a:t>
            </a:r>
            <a:r>
              <a:rPr lang="pt-BR" sz="2000" dirty="0"/>
              <a:t>(Mínimo de 50%) </a:t>
            </a:r>
          </a:p>
          <a:p>
            <a:pPr marL="0" indent="0">
              <a:buNone/>
            </a:pPr>
            <a:r>
              <a:rPr lang="pt-BR" sz="2000" dirty="0"/>
              <a:t>3. Regra de Recreação: </a:t>
            </a:r>
            <a:r>
              <a:rPr lang="pt-BR" sz="2000" b="1" dirty="0"/>
              <a:t>X1 + 2X2 + 3X3 – 200X4 &lt;= 0</a:t>
            </a:r>
            <a:r>
              <a:rPr lang="pt-BR" sz="2000" dirty="0"/>
              <a:t> (1 área para cada 200 famílias) </a:t>
            </a:r>
          </a:p>
          <a:p>
            <a:pPr marL="0" indent="0">
              <a:buNone/>
            </a:pPr>
            <a:r>
              <a:rPr lang="pt-BR" sz="2000" dirty="0"/>
              <a:t>4. Limite de Água: </a:t>
            </a:r>
            <a:r>
              <a:rPr lang="pt-BR" sz="2000" b="1" dirty="0"/>
              <a:t>400X1 + 600X2 + 840X3 + 450X4 &lt;= 200000 </a:t>
            </a:r>
            <a:r>
              <a:rPr lang="pt-BR" sz="2000" dirty="0"/>
              <a:t>(Capacidade da rede) 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9A164D-D878-5548-10F2-1CA3F0B99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4140045"/>
            <a:ext cx="5159188" cy="205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7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9C03D6-2794-A345-71D1-29ABE058B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 dirty="0">
                <a:solidFill>
                  <a:srgbClr val="FFFFFF"/>
                </a:solidFill>
              </a:rPr>
              <a:t>A Resolução</a:t>
            </a:r>
            <a:br>
              <a:rPr lang="pt-BR" sz="4000" dirty="0">
                <a:solidFill>
                  <a:srgbClr val="FFFFFF"/>
                </a:solidFill>
              </a:rPr>
            </a:br>
            <a:br>
              <a:rPr lang="pt-BR" sz="4000" dirty="0">
                <a:solidFill>
                  <a:srgbClr val="FFFFFF"/>
                </a:solidFill>
              </a:rPr>
            </a:br>
            <a:br>
              <a:rPr lang="pt-BR" sz="4000" dirty="0">
                <a:solidFill>
                  <a:srgbClr val="FFFFFF"/>
                </a:solidFill>
              </a:rPr>
            </a:br>
            <a:br>
              <a:rPr lang="pt-BR" sz="4000" dirty="0">
                <a:solidFill>
                  <a:srgbClr val="FFFFFF"/>
                </a:solidFill>
              </a:rPr>
            </a:br>
            <a:br>
              <a:rPr lang="pt-BR" sz="4000" dirty="0">
                <a:solidFill>
                  <a:srgbClr val="FFFFFF"/>
                </a:solidFill>
              </a:rPr>
            </a:br>
            <a:endParaRPr lang="pt-BR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8D3325-8466-B1AF-6DD5-4DE8F5FDC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6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pt-BR" sz="2000" dirty="0"/>
              <a:t>Ferramenta utilizada: Software LINDO </a:t>
            </a:r>
          </a:p>
          <a:p>
            <a:r>
              <a:rPr lang="pt-BR" sz="2000" b="1" dirty="0"/>
              <a:t>Resultados Brutos (Fração):</a:t>
            </a:r>
            <a:endParaRPr lang="pt-BR" sz="2000" dirty="0"/>
          </a:p>
          <a:p>
            <a:r>
              <a:rPr lang="pt-BR" sz="2000" dirty="0"/>
              <a:t>X1 = 339.15 </a:t>
            </a:r>
          </a:p>
          <a:p>
            <a:r>
              <a:rPr lang="pt-BR" sz="2000" dirty="0"/>
              <a:t>X2= 0 </a:t>
            </a:r>
          </a:p>
          <a:p>
            <a:r>
              <a:rPr lang="pt-BR" sz="2000" dirty="0"/>
              <a:t>X3= 0 </a:t>
            </a:r>
          </a:p>
          <a:p>
            <a:r>
              <a:rPr lang="pt-BR" sz="2000" dirty="0"/>
              <a:t>X4 = 1.69 </a:t>
            </a:r>
          </a:p>
          <a:p>
            <a:r>
              <a:rPr lang="pt-BR" sz="2000" b="1" dirty="0"/>
              <a:t>Lucro Teórico Máximo:</a:t>
            </a:r>
            <a:r>
              <a:rPr lang="pt-BR" sz="2000" dirty="0"/>
              <a:t> $ 3.051.012 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AB3F567-FD63-88AB-0D17-D3E0C68B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3" y="2048289"/>
            <a:ext cx="3910715" cy="32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8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B08417-D409-6286-5D31-FF5AFE63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Interpretação e Decisão Final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C404C4-5438-D07C-6E6B-3A4C96024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pt-BR" sz="2000" b="1"/>
              <a:t>Decisão Prática:</a:t>
            </a:r>
            <a:r>
              <a:rPr lang="pt-BR" sz="2000"/>
              <a:t> 339 Unidades Simples e 2 Áreas de Recreação. </a:t>
            </a:r>
          </a:p>
          <a:p>
            <a:r>
              <a:rPr lang="pt-BR" sz="2000" b="1"/>
              <a:t>Por que o software zerou as outras unidades?</a:t>
            </a:r>
            <a:endParaRPr lang="pt-BR" sz="2000"/>
          </a:p>
          <a:p>
            <a:pPr lvl="1"/>
            <a:r>
              <a:rPr lang="pt-BR" sz="2000"/>
              <a:t>Unidades simples limitam o adensamento populacional. </a:t>
            </a:r>
          </a:p>
          <a:p>
            <a:pPr lvl="1"/>
            <a:r>
              <a:rPr lang="pt-BR" sz="2000"/>
              <a:t>Reduzem a necessidade e o custo com áreas de recreação. </a:t>
            </a:r>
          </a:p>
          <a:p>
            <a:pPr lvl="1"/>
            <a:r>
              <a:rPr lang="pt-BR" sz="2000"/>
              <a:t>Mantêm o consumo de água longe do limite máximo de colapso da rede. </a:t>
            </a:r>
          </a:p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6966250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319</Words>
  <Application>Microsoft Macintosh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Trabalho de Aplicação</vt:lpstr>
      <vt:lpstr>O Desafio da Realco e as Variáveis</vt:lpstr>
      <vt:lpstr>A Função Objetivo</vt:lpstr>
      <vt:lpstr>Restrições Ambientais e Físicas</vt:lpstr>
      <vt:lpstr>A Resolução     </vt:lpstr>
      <vt:lpstr>Interpretação e Decisão Final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PEREIRA DA SILVA</dc:creator>
  <cp:lastModifiedBy>TIAGO PEREIRA DA SILVA</cp:lastModifiedBy>
  <cp:revision>1</cp:revision>
  <dcterms:created xsi:type="dcterms:W3CDTF">2026-05-31T14:28:34Z</dcterms:created>
  <dcterms:modified xsi:type="dcterms:W3CDTF">2026-05-31T15:16:39Z</dcterms:modified>
</cp:coreProperties>
</file>